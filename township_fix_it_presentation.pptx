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</p:sldIdLst>
  <p:sldSz type="screen4x3" cy="6858000" cx="12188952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tableStyles" Target="tableStyles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58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59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60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61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0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60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0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0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7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1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1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3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3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8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39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4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4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4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47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4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08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09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2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23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2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2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8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2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3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2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1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1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" name=""/>
        <p:cNvGrpSpPr/>
        <p:nvPr/>
      </p:nvGrpSpPr>
      <p:grpSpPr>
        <a:xfrm/>
      </p:grpSpPr>
      <p:sp>
        <p:nvSpPr>
          <p:cNvPr id="1048600" name="Rectangle 1"/>
          <p:cNvSpPr/>
          <p:nvPr/>
        </p:nvSpPr>
        <p:spPr>
          <a:xfrm>
            <a:off x="0" y="0"/>
            <a:ext cx="12188952" cy="6858000"/>
          </a:xfrm>
          <a:prstGeom prst="rect"/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1" name="TextBox 2"/>
          <p:cNvSpPr txBox="1"/>
          <p:nvPr/>
        </p:nvSpPr>
        <p:spPr>
          <a:xfrm>
            <a:off x="914400" y="2011680"/>
            <a:ext cx="10360152" cy="2743200"/>
          </a:xfrm>
          <a:prstGeom prst="rect"/>
          <a:noFill/>
        </p:spPr>
        <p:txBody>
          <a:bodyPr wrap="square">
            <a:spAutoFit/>
          </a:bodyPr>
          <a:p>
            <a:pPr algn="ctr">
              <a:defRPr b="1" sz="6400">
                <a:solidFill>
                  <a:srgbClr val="F59E0B"/>
                </a:solidFill>
                <a:latin typeface="Arial"/>
              </a:defRPr>
            </a:pPr>
            <a:r>
              <a:t>TOWNSHIP FIX-IT</a:t>
            </a:r>
          </a:p>
          <a:p>
            <a:pPr algn="ctr">
              <a:defRPr sz="2400">
                <a:solidFill>
                  <a:srgbClr val="FFFFFF"/>
                </a:solidFill>
                <a:latin typeface="Arial"/>
              </a:defRPr>
            </a:pPr>
            <a:r>
              <a:t>Community Reporter – Westenburg, Polokwane</a:t>
            </a:r>
          </a:p>
          <a:p>
            <a:pPr algn="ctr">
              <a:defRPr sz="1400">
                <a:solidFill>
                  <a:srgbClr val="C8C8C8"/>
                </a:solidFill>
                <a:latin typeface="Arial"/>
              </a:defRPr>
            </a:pPr>
            <a:br/>
            <a:r>
              <a:t>THE EXECUTIONERS: Benchmark Institute – Activity 12</a:t>
            </a:r>
            <a:br/>
            <a:r>
              <a:t>Team Members: Monica Semenya, Grace Mathapo, Caroline Marshall, Theo Lefember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" name=""/>
        <p:cNvGrpSpPr/>
        <p:nvPr/>
      </p:nvGrpSpPr>
      <p:grpSpPr>
        <a:xfrm/>
      </p:grpSpPr>
      <p:sp>
        <p:nvSpPr>
          <p:cNvPr id="1048596" name="Rectangle 1"/>
          <p:cNvSpPr/>
          <p:nvPr/>
        </p:nvSpPr>
        <p:spPr>
          <a:xfrm>
            <a:off x="0" y="0"/>
            <a:ext cx="12188952" cy="6858000"/>
          </a:xfrm>
          <a:prstGeom prst="rect"/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7" name="Rectangle 2"/>
          <p:cNvSpPr/>
          <p:nvPr/>
        </p:nvSpPr>
        <p:spPr>
          <a:xfrm>
            <a:off x="0" y="0"/>
            <a:ext cx="12188952" cy="1097280"/>
          </a:xfrm>
          <a:prstGeom prst="rect"/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8" name="TextBox 3"/>
          <p:cNvSpPr txBox="1"/>
          <p:nvPr/>
        </p:nvSpPr>
        <p:spPr>
          <a:xfrm>
            <a:off x="457200" y="182880"/>
            <a:ext cx="3319780" cy="574040"/>
          </a:xfrm>
          <a:prstGeom prst="rect"/>
          <a:noFill/>
        </p:spPr>
        <p:txBody>
          <a:bodyPr wrap="none">
            <a:spAutoFit/>
          </a:bodyPr>
          <a:p>
            <a:pPr>
              <a:defRPr b="1" sz="3200">
                <a:solidFill>
                  <a:srgbClr val="FFFFFF"/>
                </a:solidFill>
                <a:latin typeface="Arial"/>
              </a:defRPr>
            </a:pPr>
            <a:r>
              <a:t>2. THE PROBLEM</a:t>
            </a:r>
          </a:p>
        </p:txBody>
      </p:sp>
      <p:sp>
        <p:nvSpPr>
          <p:cNvPr id="1048599" name="TextBox 4"/>
          <p:cNvSpPr txBox="1"/>
          <p:nvPr/>
        </p:nvSpPr>
        <p:spPr>
          <a:xfrm>
            <a:off x="914400" y="1645920"/>
            <a:ext cx="10360152" cy="2758441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400"/>
              </a:spcAft>
              <a:defRPr b="1" sz="1800">
                <a:solidFill>
                  <a:srgbClr val="1E293B"/>
                </a:solidFill>
                <a:latin typeface="Arial"/>
              </a:defRPr>
            </a:pPr>
            <a:r>
              <a:t>Location Focus:</a:t>
            </a:r>
            <a:r>
              <a:rPr b="0"/>
              <a:t> In Westenburg, Polokwane, local community issues like broken streetlights, potholes, and water leaks can take years to fix.</a:t>
            </a:r>
          </a:p>
          <a:p>
            <a:pPr>
              <a:spcAft>
                <a:spcPts val="1400"/>
              </a:spcAft>
              <a:defRPr b="1" sz="1800">
                <a:solidFill>
                  <a:srgbClr val="1E293B"/>
                </a:solidFill>
                <a:latin typeface="Arial"/>
              </a:defRPr>
            </a:pPr>
            <a:r>
              <a:t>Communication Gap:</a:t>
            </a:r>
            <a:r>
              <a:rPr b="0"/>
              <a:t> Residents try to report issues via WhatsApp groups where critical messages easily get lost.</a:t>
            </a:r>
          </a:p>
          <a:p>
            <a:pPr>
              <a:spcAft>
                <a:spcPts val="1400"/>
              </a:spcAft>
              <a:defRPr b="1" sz="1800">
                <a:solidFill>
                  <a:srgbClr val="1E293B"/>
                </a:solidFill>
                <a:latin typeface="Arial"/>
              </a:defRPr>
            </a:pPr>
            <a:r>
              <a:t>Lack of Systems:</a:t>
            </a:r>
            <a:r>
              <a:rPr b="0"/>
              <a:t> There is absolutely no structured tracking and no accountability from the municipality.</a:t>
            </a:r>
          </a:p>
          <a:p>
            <a:pPr>
              <a:spcAft>
                <a:spcPts val="1400"/>
              </a:spcAft>
              <a:defRPr b="1" sz="1800">
                <a:solidFill>
                  <a:srgbClr val="1E293B"/>
                </a:solidFill>
                <a:latin typeface="Arial"/>
              </a:defRPr>
            </a:pPr>
            <a:r>
              <a:t>No Proof:</a:t>
            </a:r>
            <a:r>
              <a:rPr b="0"/>
              <a:t> Residents are left completely in the dark with no proof that their report was ever received or seen.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/>
      </p:grpSpPr>
      <p:sp>
        <p:nvSpPr>
          <p:cNvPr id="1048592" name="Rectangle 1"/>
          <p:cNvSpPr/>
          <p:nvPr/>
        </p:nvSpPr>
        <p:spPr>
          <a:xfrm>
            <a:off x="0" y="0"/>
            <a:ext cx="12188952" cy="6858000"/>
          </a:xfrm>
          <a:prstGeom prst="rect"/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3" name="Rectangle 2"/>
          <p:cNvSpPr/>
          <p:nvPr/>
        </p:nvSpPr>
        <p:spPr>
          <a:xfrm>
            <a:off x="0" y="0"/>
            <a:ext cx="12188952" cy="1097280"/>
          </a:xfrm>
          <a:prstGeom prst="rect"/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4" name="TextBox 3"/>
          <p:cNvSpPr txBox="1"/>
          <p:nvPr/>
        </p:nvSpPr>
        <p:spPr>
          <a:xfrm>
            <a:off x="457200" y="182880"/>
            <a:ext cx="3436065" cy="574040"/>
          </a:xfrm>
          <a:prstGeom prst="rect"/>
          <a:noFill/>
        </p:spPr>
        <p:txBody>
          <a:bodyPr wrap="none">
            <a:spAutoFit/>
          </a:bodyPr>
          <a:p>
            <a:pPr>
              <a:defRPr b="1" sz="3200">
                <a:solidFill>
                  <a:srgbClr val="FFFFFF"/>
                </a:solidFill>
                <a:latin typeface="Arial"/>
              </a:defRPr>
            </a:pPr>
            <a:r>
              <a:t>3. OUR SOLUTION</a:t>
            </a:r>
          </a:p>
        </p:txBody>
      </p:sp>
      <p:sp>
        <p:nvSpPr>
          <p:cNvPr id="1048595" name="TextBox 4"/>
          <p:cNvSpPr txBox="1"/>
          <p:nvPr/>
        </p:nvSpPr>
        <p:spPr>
          <a:xfrm>
            <a:off x="914400" y="1645920"/>
            <a:ext cx="10360152" cy="3202941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400"/>
              </a:spcAft>
              <a:defRPr b="1" sz="1800">
                <a:solidFill>
                  <a:srgbClr val="1E293B"/>
                </a:solidFill>
                <a:latin typeface="Arial"/>
              </a:defRPr>
            </a:pPr>
            <a:r>
              <a:t>Mobile-First Web App:</a:t>
            </a:r>
            <a:r>
              <a:rPr b="0"/>
              <a:t> Built to allow any resident to report an infrastructure issue in about 30 seconds.</a:t>
            </a:r>
          </a:p>
          <a:p>
            <a:pPr>
              <a:spcAft>
                <a:spcPts val="1400"/>
              </a:spcAft>
              <a:defRPr b="1" sz="1800">
                <a:solidFill>
                  <a:srgbClr val="1E293B"/>
                </a:solidFill>
                <a:latin typeface="Arial"/>
              </a:defRPr>
            </a:pPr>
            <a:r>
              <a:t>Public Accountability:</a:t>
            </a:r>
            <a:r>
              <a:rPr b="0"/>
              <a:t> Reports are fully visible to the whole community with an active status, ensuring issues cannot quietly disappear.</a:t>
            </a:r>
          </a:p>
          <a:p>
            <a:pPr>
              <a:spcAft>
                <a:spcPts val="1400"/>
              </a:spcAft>
              <a:defRPr b="1" sz="1800">
                <a:solidFill>
                  <a:srgbClr val="1E293B"/>
                </a:solidFill>
                <a:latin typeface="Arial"/>
              </a:defRPr>
            </a:pPr>
            <a:r>
              <a:t>Lightweight Tech Stack:</a:t>
            </a:r>
            <a:r>
              <a:rPr b="0"/>
              <a:t> Built completely with plain HTML, CSS, and JavaScript—no heavy frameworks, no login barriers, and no cost.</a:t>
            </a:r>
          </a:p>
          <a:p>
            <a:pPr>
              <a:spcAft>
                <a:spcPts val="1400"/>
              </a:spcAft>
              <a:defRPr b="1" sz="1800">
                <a:solidFill>
                  <a:srgbClr val="1E293B"/>
                </a:solidFill>
                <a:latin typeface="Arial"/>
              </a:defRPr>
            </a:pPr>
            <a:r>
              <a:t>Zero Backend:</a:t>
            </a:r>
            <a:r>
              <a:rPr b="0"/>
              <a:t> Data is securely saved directly in the browser using local storage, eliminating the need for a server or backend setup.</a:t>
            </a:r>
          </a:p>
          <a:p>
            <a:pPr>
              <a:spcAft>
                <a:spcPts val="1400"/>
              </a:spcAft>
              <a:defRPr b="1" sz="1800">
                <a:solidFill>
                  <a:srgbClr val="1E293B"/>
                </a:solidFill>
                <a:latin typeface="Arial"/>
              </a:defRPr>
            </a:pPr>
            <a:r>
              <a:t>Development Note:</a:t>
            </a:r>
            <a:r>
              <a:rPr b="0"/>
              <a:t> Remarkably, the entire application was written completely on a mobile phone within Westenburg.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" name=""/>
        <p:cNvGrpSpPr/>
        <p:nvPr/>
      </p:nvGrpSpPr>
      <p:grpSpPr>
        <a:xfrm/>
      </p:grpSpPr>
      <p:sp>
        <p:nvSpPr>
          <p:cNvPr id="1048584" name="Rectangle 1"/>
          <p:cNvSpPr/>
          <p:nvPr/>
        </p:nvSpPr>
        <p:spPr>
          <a:xfrm>
            <a:off x="0" y="0"/>
            <a:ext cx="12188952" cy="6858000"/>
          </a:xfrm>
          <a:prstGeom prst="rect"/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85" name="Rectangle 2"/>
          <p:cNvSpPr/>
          <p:nvPr/>
        </p:nvSpPr>
        <p:spPr>
          <a:xfrm>
            <a:off x="0" y="0"/>
            <a:ext cx="12188952" cy="1097280"/>
          </a:xfrm>
          <a:prstGeom prst="rect"/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86" name="TextBox 3"/>
          <p:cNvSpPr txBox="1"/>
          <p:nvPr/>
        </p:nvSpPr>
        <p:spPr>
          <a:xfrm>
            <a:off x="457200" y="182880"/>
            <a:ext cx="3479126" cy="574040"/>
          </a:xfrm>
          <a:prstGeom prst="rect"/>
          <a:noFill/>
        </p:spPr>
        <p:txBody>
          <a:bodyPr wrap="none">
            <a:spAutoFit/>
          </a:bodyPr>
          <a:p>
            <a:pPr>
              <a:defRPr b="1" sz="3200">
                <a:solidFill>
                  <a:srgbClr val="FFFFFF"/>
                </a:solidFill>
                <a:latin typeface="Arial"/>
              </a:defRPr>
            </a:pPr>
            <a:r>
              <a:t>4. HOW IT WORKS</a:t>
            </a:r>
          </a:p>
        </p:txBody>
      </p:sp>
      <p:sp>
        <p:nvSpPr>
          <p:cNvPr id="1048587" name="TextBox 4"/>
          <p:cNvSpPr txBox="1"/>
          <p:nvPr/>
        </p:nvSpPr>
        <p:spPr>
          <a:xfrm>
            <a:off x="914400" y="1645920"/>
            <a:ext cx="10360152" cy="2758441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400"/>
              </a:spcAft>
              <a:defRPr b="1" sz="1800">
                <a:solidFill>
                  <a:srgbClr val="1E293B"/>
                </a:solidFill>
                <a:latin typeface="Arial"/>
              </a:defRPr>
            </a:pPr>
            <a:r>
              <a:t>1. Initiation:</a:t>
            </a:r>
            <a:r>
              <a:rPr b="0"/>
              <a:t> Clicking the 'Report a Problem' button seamlessly opens and closes the reporting form.</a:t>
            </a:r>
          </a:p>
          <a:p>
            <a:pPr>
              <a:spcAft>
                <a:spcPts val="1400"/>
              </a:spcAft>
              <a:defRPr b="1" sz="1800">
                <a:solidFill>
                  <a:srgbClr val="1E293B"/>
                </a:solidFill>
                <a:latin typeface="Arial"/>
              </a:defRPr>
            </a:pPr>
            <a:r>
              <a:t>2. Data Capture:</a:t>
            </a:r>
            <a:r>
              <a:rPr b="0"/>
              <a:t> The simple form captures four critical details: problem type (Broken Streetlight, Pothole, Water Leak, or Safety Issue), location, custom description, and the date (added automatically).</a:t>
            </a:r>
          </a:p>
          <a:p>
            <a:pPr>
              <a:spcAft>
                <a:spcPts val="1400"/>
              </a:spcAft>
              <a:defRPr b="1" sz="1800">
                <a:solidFill>
                  <a:srgbClr val="1E293B"/>
                </a:solidFill>
                <a:latin typeface="Arial"/>
              </a:defRPr>
            </a:pPr>
            <a:r>
              <a:t>3. Public Ledger:</a:t>
            </a:r>
            <a:r>
              <a:rPr b="0"/>
              <a:t> Every single report appears instantly in a public Community Reports list featuring a 'Mark as Fixed' button for any resident to interact with.</a:t>
            </a:r>
          </a:p>
          <a:p>
            <a:pPr>
              <a:spcAft>
                <a:spcPts val="1400"/>
              </a:spcAft>
              <a:defRPr b="1" sz="1800">
                <a:solidFill>
                  <a:srgbClr val="1E293B"/>
                </a:solidFill>
                <a:latin typeface="Arial"/>
              </a:defRPr>
            </a:pPr>
            <a:r>
              <a:t>4. Live Dashboard:</a:t>
            </a:r>
            <a:r>
              <a:rPr b="0"/>
              <a:t> Two live counters clearly display the total reports and exactly how many have been successfully fixed.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" name=""/>
        <p:cNvGrpSpPr/>
        <p:nvPr/>
      </p:nvGrpSpPr>
      <p:grpSpPr>
        <a:xfrm/>
      </p:grpSpPr>
      <p:sp>
        <p:nvSpPr>
          <p:cNvPr id="1048588" name="Rectangle 1"/>
          <p:cNvSpPr/>
          <p:nvPr/>
        </p:nvSpPr>
        <p:spPr>
          <a:xfrm>
            <a:off x="0" y="0"/>
            <a:ext cx="12188952" cy="6858000"/>
          </a:xfrm>
          <a:prstGeom prst="rect"/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89" name="Rectangle 2"/>
          <p:cNvSpPr/>
          <p:nvPr/>
        </p:nvSpPr>
        <p:spPr>
          <a:xfrm>
            <a:off x="0" y="0"/>
            <a:ext cx="12188952" cy="1097280"/>
          </a:xfrm>
          <a:prstGeom prst="rect"/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0" name="TextBox 3"/>
          <p:cNvSpPr txBox="1"/>
          <p:nvPr/>
        </p:nvSpPr>
        <p:spPr>
          <a:xfrm>
            <a:off x="457200" y="182880"/>
            <a:ext cx="7314327" cy="574040"/>
          </a:xfrm>
          <a:prstGeom prst="rect"/>
          <a:noFill/>
        </p:spPr>
        <p:txBody>
          <a:bodyPr wrap="none">
            <a:spAutoFit/>
          </a:bodyPr>
          <a:p>
            <a:pPr>
              <a:defRPr b="1" sz="3200">
                <a:solidFill>
                  <a:srgbClr val="FFFFFF"/>
                </a:solidFill>
                <a:latin typeface="Arial"/>
              </a:defRPr>
            </a:pPr>
            <a:r>
              <a:t>5. WHAT WE LEARNED &amp; WHAT'S NEXT</a:t>
            </a:r>
          </a:p>
        </p:txBody>
      </p:sp>
      <p:sp>
        <p:nvSpPr>
          <p:cNvPr id="1048591" name="TextBox 4"/>
          <p:cNvSpPr txBox="1"/>
          <p:nvPr/>
        </p:nvSpPr>
        <p:spPr>
          <a:xfrm>
            <a:off x="914400" y="1645920"/>
            <a:ext cx="10360152" cy="506984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400"/>
              </a:spcAft>
              <a:defRPr b="1" sz="1800">
                <a:solidFill>
                  <a:srgbClr val="1E293B"/>
                </a:solidFill>
                <a:latin typeface="Arial"/>
              </a:defRPr>
            </a:pPr>
            <a:r>
              <a:t>WHAT WORKED:</a:t>
            </a:r>
            <a:r>
              <a:rPr b="0"/>
              <a:t/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  • Keeping the application small, fast, and simple.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  • Eliminating any sign-up or registration barriers.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  • Enabling exceptionally fast loading speeds on slow mobile data networks.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  • Ensuring total usability even on low-end, cheap smartphones.</a:t>
            </a:r>
          </a:p>
          <a:p>
            <a:pPr>
              <a:spcAft>
                <a:spcPts val="1400"/>
              </a:spcAft>
              <a:defRPr b="1" sz="1800">
                <a:solidFill>
                  <a:srgbClr val="1E293B"/>
                </a:solidFill>
                <a:latin typeface="Arial"/>
              </a:defRPr>
            </a:pPr>
            <a:r>
              <a:t>PLANNED IMPROVEMENTS:</a:t>
            </a:r>
            <a:r>
              <a:rPr b="0"/>
              <a:t/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  • Photo Attachments: Allow users to attach a direct photo of the fault.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  • Automated Location: Capture precise GPS coordinates automatically.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  • Intermediate States: Add an 'In Progress' status between Reported and Fixed.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  • Data Management: Implement search and filter options, and export lists for the ward committee.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  • Shared Synchronization: Develop a shared backend so reports seamlessly sync across all residents' phones.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Macintosh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SM-A055F</dc:creator>
  <cp:lastModifiedBy>Steve Canny</cp:lastModifiedBy>
  <dcterms:created xsi:type="dcterms:W3CDTF">2013-01-27T05:14:16Z</dcterms:created>
  <dcterms:modified xsi:type="dcterms:W3CDTF">2026-08-31T21:19:22Z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afdd6039f37e4680afeb9132a83305a5_23</vt:lpwstr>
  </property>
</Properties>
</file>